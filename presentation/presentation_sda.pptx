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5" r:id="rId10"/>
    <p:sldId id="276" r:id="rId11"/>
    <p:sldId id="264" r:id="rId12"/>
    <p:sldId id="277" r:id="rId13"/>
    <p:sldId id="265" r:id="rId14"/>
    <p:sldId id="266" r:id="rId15"/>
    <p:sldId id="267" r:id="rId16"/>
    <p:sldId id="274" r:id="rId17"/>
    <p:sldId id="268" r:id="rId18"/>
    <p:sldId id="269" r:id="rId19"/>
    <p:sldId id="270" r:id="rId20"/>
    <p:sldId id="271" r:id="rId21"/>
    <p:sldId id="272" r:id="rId22"/>
    <p:sldId id="273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8AEBE6F-C4DB-46BF-9480-0A1E6640FDEF}" v="866" dt="2026-01-14T19:50:02.80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03366"/>
                </a:solidFill>
              </a:defRPr>
            </a:pPr>
            <a:r>
              <a:t>Analyse et Prédiction des Accidents</a:t>
            </a:r>
            <a:br/>
            <a:r>
              <a:t>de Vélo en Île-de-France</a:t>
            </a:r>
          </a:p>
          <a:p>
            <a:pPr algn="ctr">
              <a:defRPr sz="2400">
                <a:solidFill>
                  <a:srgbClr val="646464"/>
                </a:solidFill>
              </a:defRPr>
            </a:pPr>
            <a:r>
              <a:t>Nicolas Huyghe • David Chhoa • Jérémie Masnou</a:t>
            </a:r>
            <a:br/>
            <a:br/>
            <a:r>
              <a:t>Projet Sciences des Données et Apprentissage 2025/2026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Contexte et Problématique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27432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t>• Essor du vélo en Île-de-France (Vélib', pistes cyclables)</a:t>
            </a: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t>• Politiques de mobilité durable en expansion</a:t>
            </a: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t>• Enjeu de sécurité routière majeur</a:t>
            </a: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t>• 22 609 accidents de vélo enregistrés en Île-de-France</a:t>
            </a: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t>• Question : peut-on prédire et prévenir ces accidents 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Questions de Recherche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27432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t>• Classification : Identifier les communes à risque élevé</a:t>
            </a: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t>• Régression : Prédire le nombre d'accidents par commune</a:t>
            </a: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t>• Taux de risque : Prédire des taux normalisés (par habitant, par km)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Sources de Données (data.gouv.fr)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27432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t>• Accidents vélo : 80 022 nationaux → 22 609 en IDF</a:t>
            </a: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t>•    → Localisation, date, gravité, conditions</a:t>
            </a: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t>• Aménagements cyclables : 143 060 infrastructures</a:t>
            </a: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t>•    → Type de voie, longueur, revêtement</a:t>
            </a: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t>• Comptages vélo : 933 757 mesures (69 compteurs)</a:t>
            </a: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t>• Population INSEE : 1 287 communes (2021)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Fusion et Création de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27432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295465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Fusion au </a:t>
            </a:r>
            <a:r>
              <a:rPr dirty="0" err="1"/>
              <a:t>niveau</a:t>
            </a:r>
            <a:r>
              <a:rPr dirty="0"/>
              <a:t> communal (code INSEE)</a:t>
            </a: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Dataset final : 1 124 communes</a:t>
            </a:r>
            <a:endParaRPr dirty="0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</a:t>
            </a:r>
            <a:r>
              <a:rPr lang="fr-FR" dirty="0"/>
              <a:t>Exemples </a:t>
            </a:r>
            <a:r>
              <a:rPr lang="fr-FR" dirty="0" err="1"/>
              <a:t>features</a:t>
            </a:r>
            <a:r>
              <a:rPr dirty="0"/>
              <a:t> </a:t>
            </a:r>
            <a:r>
              <a:rPr dirty="0" err="1"/>
              <a:t>créées</a:t>
            </a:r>
            <a:r>
              <a:rPr dirty="0"/>
              <a:t> :</a:t>
            </a:r>
            <a:endParaRPr dirty="0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</a:t>
            </a:r>
            <a:r>
              <a:rPr lang="fr-FR" dirty="0"/>
              <a:t> -  </a:t>
            </a:r>
            <a:r>
              <a:rPr dirty="0" err="1"/>
              <a:t>nb_accidents</a:t>
            </a:r>
            <a:r>
              <a:rPr dirty="0"/>
              <a:t>, </a:t>
            </a:r>
            <a:r>
              <a:rPr dirty="0" err="1"/>
              <a:t>nb_accidents_graves</a:t>
            </a:r>
            <a:endParaRPr dirty="0" err="1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 </a:t>
            </a:r>
            <a:r>
              <a:rPr lang="fr-FR" dirty="0"/>
              <a:t>-  </a:t>
            </a:r>
            <a:r>
              <a:rPr dirty="0" err="1"/>
              <a:t>longueur_totale_amenagements</a:t>
            </a:r>
            <a:r>
              <a:rPr dirty="0"/>
              <a:t>, </a:t>
            </a:r>
            <a:r>
              <a:rPr dirty="0" err="1"/>
              <a:t>ratio_pistes_cyclables</a:t>
            </a:r>
            <a:endParaRPr dirty="0" err="1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 </a:t>
            </a:r>
            <a:r>
              <a:rPr lang="fr-FR" dirty="0"/>
              <a:t>-</a:t>
            </a:r>
            <a:r>
              <a:rPr dirty="0"/>
              <a:t> </a:t>
            </a:r>
            <a:r>
              <a:rPr dirty="0" err="1"/>
              <a:t>taux_risque_par_km</a:t>
            </a:r>
            <a:r>
              <a:rPr dirty="0"/>
              <a:t>, </a:t>
            </a:r>
            <a:r>
              <a:rPr dirty="0" err="1"/>
              <a:t>taux_risque_par_habitant</a:t>
            </a:r>
            <a:endParaRPr dirty="0" err="1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 </a:t>
            </a:r>
            <a:r>
              <a:rPr lang="fr-FR" dirty="0"/>
              <a:t>-</a:t>
            </a:r>
            <a:r>
              <a:rPr dirty="0"/>
              <a:t> </a:t>
            </a:r>
            <a:r>
              <a:rPr dirty="0" err="1"/>
              <a:t>risque_eleve</a:t>
            </a:r>
            <a:r>
              <a:rPr dirty="0"/>
              <a:t> (variable </a:t>
            </a:r>
            <a:r>
              <a:rPr dirty="0" err="1"/>
              <a:t>binaire</a:t>
            </a:r>
            <a:r>
              <a:rPr dirty="0"/>
              <a:t>)</a:t>
            </a:r>
            <a:endParaRPr dirty="0"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Classification - Méthodologie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27432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424731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Risque </a:t>
            </a:r>
            <a:r>
              <a:rPr dirty="0" err="1"/>
              <a:t>élevé</a:t>
            </a:r>
            <a:r>
              <a:rPr dirty="0"/>
              <a:t> : </a:t>
            </a:r>
            <a:r>
              <a:rPr dirty="0" err="1"/>
              <a:t>nb_accidents</a:t>
            </a:r>
            <a:r>
              <a:rPr dirty="0"/>
              <a:t> ≥ 75e percentile (≥ 6 accidents)</a:t>
            </a: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6 </a:t>
            </a:r>
            <a:r>
              <a:rPr dirty="0" err="1"/>
              <a:t>modèles</a:t>
            </a:r>
            <a:r>
              <a:rPr dirty="0"/>
              <a:t> </a:t>
            </a:r>
            <a:r>
              <a:rPr dirty="0" err="1"/>
              <a:t>testés</a:t>
            </a:r>
            <a:r>
              <a:rPr dirty="0"/>
              <a:t> :</a:t>
            </a:r>
            <a:endParaRPr dirty="0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</a:t>
            </a:r>
            <a:r>
              <a:rPr lang="fr-FR" dirty="0"/>
              <a:t>- </a:t>
            </a:r>
            <a:r>
              <a:rPr dirty="0" err="1"/>
              <a:t>Régression</a:t>
            </a:r>
            <a:r>
              <a:rPr dirty="0"/>
              <a:t> </a:t>
            </a:r>
            <a:r>
              <a:rPr dirty="0" err="1"/>
              <a:t>Logistique</a:t>
            </a:r>
            <a:endParaRPr dirty="0" err="1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</a:t>
            </a:r>
            <a:r>
              <a:rPr lang="fr-FR" dirty="0"/>
              <a:t>- </a:t>
            </a:r>
            <a:r>
              <a:rPr dirty="0"/>
              <a:t>Random </a:t>
            </a:r>
            <a:r>
              <a:rPr lang="fr-FR" dirty="0"/>
              <a:t>Forest</a:t>
            </a:r>
            <a:endParaRPr lang="fr-FR" dirty="0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lang="en-US" dirty="0"/>
              <a:t>• </a:t>
            </a:r>
            <a:r>
              <a:rPr lang="fr-FR" dirty="0"/>
              <a:t>- SVM (RBF)</a:t>
            </a:r>
            <a:endParaRPr dirty="0"/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</a:t>
            </a:r>
            <a:r>
              <a:rPr lang="fr-FR" dirty="0"/>
              <a:t>- </a:t>
            </a:r>
            <a:r>
              <a:rPr dirty="0"/>
              <a:t>Gradient </a:t>
            </a:r>
            <a:r>
              <a:rPr dirty="0" err="1"/>
              <a:t>Boosting</a:t>
            </a:r>
            <a:endParaRPr lang="fr-FR" dirty="0" err="1"/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lang="en-US" dirty="0"/>
              <a:t>• </a:t>
            </a:r>
            <a:r>
              <a:rPr lang="fr-FR" dirty="0"/>
              <a:t>- </a:t>
            </a:r>
            <a:r>
              <a:rPr dirty="0" err="1"/>
              <a:t>XGBoost</a:t>
            </a:r>
            <a:endParaRPr lang="fr-FR" dirty="0" err="1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lang="en-US" dirty="0"/>
              <a:t>• </a:t>
            </a:r>
            <a:r>
              <a:rPr lang="fr-FR" dirty="0"/>
              <a:t>- </a:t>
            </a:r>
            <a:r>
              <a:rPr dirty="0" err="1"/>
              <a:t>LightGBM</a:t>
            </a:r>
            <a:endParaRPr dirty="0" err="1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Validation </a:t>
            </a:r>
            <a:r>
              <a:rPr dirty="0" err="1"/>
              <a:t>croisée</a:t>
            </a:r>
            <a:r>
              <a:rPr dirty="0"/>
              <a:t> 5-fold</a:t>
            </a:r>
            <a:endParaRPr dirty="0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</a:t>
            </a:r>
            <a:r>
              <a:rPr dirty="0" err="1"/>
              <a:t>Métriques</a:t>
            </a:r>
            <a:r>
              <a:rPr dirty="0"/>
              <a:t> : Accuracy, F1-Score, ROC-AUC</a:t>
            </a:r>
            <a:endParaRPr dirty="0"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Classification - Résultats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27432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t>• Meilleur modèle : Régression Logistique (AUC 95.6%)</a:t>
            </a: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t>• Surprenant : modèle simple &gt; modèles complexes</a:t>
            </a: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t>• Explication : relation essentiellement linéaire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4504131"/>
              </p:ext>
            </p:extLst>
          </p:nvPr>
        </p:nvGraphicFramePr>
        <p:xfrm>
          <a:off x="457200" y="3201847"/>
          <a:ext cx="8229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 err="1"/>
                        <a:t>Modèle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Accuracy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F1-Score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ROC-AUC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dirty="0" err="1"/>
                        <a:t>Rég</a:t>
                      </a:r>
                      <a:r>
                        <a:rPr dirty="0"/>
                        <a:t>. </a:t>
                      </a:r>
                      <a:r>
                        <a:rPr dirty="0" err="1"/>
                        <a:t>Logistique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dirty="0"/>
                        <a:t>0.884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dirty="0"/>
                        <a:t>0.794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dirty="0"/>
                        <a:t>0.956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dirty="0"/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dirty="0"/>
                        <a:t>0.898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dirty="0"/>
                        <a:t>0.793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dirty="0"/>
                        <a:t>0.951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dirty="0"/>
                        <a:t>SVM</a:t>
                      </a:r>
                      <a:r>
                        <a:rPr lang="fr-FR" dirty="0"/>
                        <a:t> (RBF)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dirty="0"/>
                        <a:t>0.880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dirty="0"/>
                        <a:t>0.791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dirty="0"/>
                        <a:t>0.953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dirty="0"/>
                        <a:t>Gradient Boosting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dirty="0"/>
                        <a:t>0.880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dirty="0"/>
                        <a:t>0.757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dirty="0"/>
                        <a:t>0.953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lvl="0" algn="ctr">
                        <a:buNone/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lang="fr-FR" dirty="0" err="1"/>
                        <a:t>LightGBM</a:t>
                      </a:r>
                      <a:endParaRPr dirty="0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lang="fr-FR" dirty="0"/>
                        <a:t>0.889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lang="fr-FR" dirty="0"/>
                        <a:t>0.786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lang="fr-FR" dirty="0"/>
                        <a:t>0.940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73308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lvl="0" algn="ctr">
                        <a:buNone/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lang="fr-FR" dirty="0" err="1"/>
                        <a:t>XGBoost</a:t>
                      </a:r>
                      <a:endParaRPr dirty="0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lang="fr-FR" dirty="0"/>
                        <a:t>0.884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lang="fr-FR" dirty="0"/>
                        <a:t>0.780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lang="fr-FR" dirty="0"/>
                        <a:t>0.941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17527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4345100" cy="52322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rPr lang="fr-FR" dirty="0"/>
              <a:t>Classification - </a:t>
            </a:r>
            <a:r>
              <a:rPr dirty="0"/>
              <a:t>Courbes ROC</a:t>
            </a:r>
            <a:endParaRPr lang="fr-FR" dirty="0"/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27432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t>• Tous les modèles &gt; 0.94 AUC</a:t>
            </a: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t>• Excellente séparation des classes</a:t>
            </a: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t>• Courbes proches du coin supérieur gauche</a:t>
            </a:r>
          </a:p>
        </p:txBody>
      </p:sp>
      <p:pic>
        <p:nvPicPr>
          <p:cNvPr id="5" name="Picture 4" descr="roc_curves_class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9998" y="2483638"/>
            <a:ext cx="4844005" cy="388099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812C0-6ABB-8907-88FD-B6B74AFFB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46855B-596D-CFC4-795B-A4D1212787BB}"/>
              </a:ext>
            </a:extLst>
          </p:cNvPr>
          <p:cNvSpPr txBox="1"/>
          <p:nvPr/>
        </p:nvSpPr>
        <p:spPr>
          <a:xfrm>
            <a:off x="457200" y="274320"/>
            <a:ext cx="5675464" cy="52322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rPr lang="fr-FR" dirty="0"/>
              <a:t>Classification – Matrice de Confusion</a:t>
            </a:r>
            <a:endParaRPr lang="fr-FR" dirty="0">
              <a:ea typeface="Calibri"/>
              <a:cs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17E9720-D679-E19E-30C6-18CB89A62FAB}"/>
              </a:ext>
            </a:extLst>
          </p:cNvPr>
          <p:cNvSpPr/>
          <p:nvPr/>
        </p:nvSpPr>
        <p:spPr>
          <a:xfrm>
            <a:off x="457200" y="1005840"/>
            <a:ext cx="8229600" cy="27432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Image 5" descr="Une image contenant texte, capture d’écran, diagramme, Rectangle&#10;&#10;Le contenu généré par l’IA peut être incorrect.">
            <a:extLst>
              <a:ext uri="{FF2B5EF4-FFF2-40B4-BE49-F238E27FC236}">
                <a16:creationId xmlns:a16="http://schemas.microsoft.com/office/drawing/2014/main" id="{8C4E688F-9921-8598-1EA8-2EFCE49A3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911" y="1237044"/>
            <a:ext cx="7234178" cy="5425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06240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E5D24D-8815-27E6-FF53-5DC5E8861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803776E-AEAA-053B-121E-F6C98BEC32E0}"/>
              </a:ext>
            </a:extLst>
          </p:cNvPr>
          <p:cNvSpPr txBox="1"/>
          <p:nvPr/>
        </p:nvSpPr>
        <p:spPr>
          <a:xfrm>
            <a:off x="457200" y="274320"/>
            <a:ext cx="5669694" cy="52322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rPr lang="fr-FR" dirty="0"/>
              <a:t>Classification – </a:t>
            </a:r>
            <a:r>
              <a:rPr lang="fr-FR" dirty="0" err="1"/>
              <a:t>Features</a:t>
            </a:r>
            <a:r>
              <a:rPr lang="fr-FR" dirty="0"/>
              <a:t> importantes</a:t>
            </a:r>
            <a:endParaRPr lang="fr-FR" dirty="0">
              <a:ea typeface="Calibri"/>
              <a:cs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0185-3FA0-D9E5-7509-531CFF9D9771}"/>
              </a:ext>
            </a:extLst>
          </p:cNvPr>
          <p:cNvSpPr/>
          <p:nvPr/>
        </p:nvSpPr>
        <p:spPr>
          <a:xfrm>
            <a:off x="457200" y="1005840"/>
            <a:ext cx="8229600" cy="27432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Image 3" descr="Une image contenant texte, diagramme, capture d’écran, ligne&#10;&#10;Le contenu généré par l’IA peut être incorrect.">
            <a:extLst>
              <a:ext uri="{FF2B5EF4-FFF2-40B4-BE49-F238E27FC236}">
                <a16:creationId xmlns:a16="http://schemas.microsoft.com/office/drawing/2014/main" id="{80877F7D-C1F8-8F96-D85D-E8CC28A547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241" y="1186405"/>
            <a:ext cx="6170754" cy="5288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2727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Régression - Résultats Initiaux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27432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t>• Objectif : prédire le nombre exact d'accidents</a:t>
            </a: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t>• Meilleur : Gradient Boosting (R² = 89.2%)</a:t>
            </a: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t>• Résultat apparemment excellent... mais attention !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5086549"/>
              </p:ext>
            </p:extLst>
          </p:nvPr>
        </p:nvGraphicFramePr>
        <p:xfrm>
          <a:off x="457200" y="2695454"/>
          <a:ext cx="8229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 err="1"/>
                        <a:t>Modèle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RMSE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R²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CV R²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dirty="0"/>
                        <a:t>Gradient Boosting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dirty="0"/>
                        <a:t>37.06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dirty="0"/>
                        <a:t>0.892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dirty="0"/>
                        <a:t>0.897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dirty="0" err="1"/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dirty="0"/>
                        <a:t>37.53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dirty="0"/>
                        <a:t>0.889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dirty="0"/>
                        <a:t>0.900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dirty="0"/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dirty="0"/>
                        <a:t>37.80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dirty="0"/>
                        <a:t>0.888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dirty="0"/>
                        <a:t>0.886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dirty="0" err="1"/>
                        <a:t>Régression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Linéaire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dirty="0"/>
                        <a:t>42.89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dirty="0"/>
                        <a:t>0.856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dirty="0"/>
                        <a:t>0.855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lvl="0" algn="ctr">
                        <a:buNone/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lang="fr-FR" dirty="0"/>
                        <a:t>Ridge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lang="fr-FR" dirty="0"/>
                        <a:t>43.23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lang="fr-FR" dirty="0"/>
                        <a:t>0.853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lang="fr-FR" dirty="0"/>
                        <a:t>0.857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757006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lvl="0" algn="ctr">
                        <a:buNone/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lang="fr-FR" dirty="0"/>
                        <a:t>Lasso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lang="fr-FR" dirty="0"/>
                        <a:t>43.87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lang="fr-FR" dirty="0"/>
                        <a:t>0.849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lang="fr-FR" dirty="0"/>
                        <a:t>0.856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39842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lvl="0" algn="ctr">
                        <a:buNone/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lang="fr-FR" dirty="0" err="1"/>
                        <a:t>LightGBM</a:t>
                      </a:r>
                      <a:endParaRPr dirty="0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lang="fr-FR" dirty="0"/>
                        <a:t>45.41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lang="fr-FR" dirty="0"/>
                        <a:t>0.838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rPr lang="fr-FR" dirty="0"/>
                        <a:t>0.825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418092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870BF-AAC0-F9AC-1C72-AEB2541CF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2CA2546-80CA-2869-860D-DC2645A382A0}"/>
              </a:ext>
            </a:extLst>
          </p:cNvPr>
          <p:cNvSpPr txBox="1"/>
          <p:nvPr/>
        </p:nvSpPr>
        <p:spPr>
          <a:xfrm>
            <a:off x="457200" y="274320"/>
            <a:ext cx="4100161" cy="52322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rPr dirty="0"/>
              <a:t>Régression - </a:t>
            </a:r>
            <a:r>
              <a:rPr lang="fr-FR" dirty="0"/>
              <a:t> Corrélations</a:t>
            </a:r>
            <a:endParaRPr lang="fr-FR" dirty="0">
              <a:ea typeface="Calibri"/>
              <a:cs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7979FEA-7B37-E238-3524-807CF82AAC56}"/>
              </a:ext>
            </a:extLst>
          </p:cNvPr>
          <p:cNvSpPr/>
          <p:nvPr/>
        </p:nvSpPr>
        <p:spPr>
          <a:xfrm>
            <a:off x="457200" y="1005840"/>
            <a:ext cx="8229600" cy="27432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Image 5" descr="Une image contenant texte, capture d’écran, diagramme, ligne&#10;&#10;Le contenu généré par l’IA peut être incorrect.">
            <a:extLst>
              <a:ext uri="{FF2B5EF4-FFF2-40B4-BE49-F238E27FC236}">
                <a16:creationId xmlns:a16="http://schemas.microsoft.com/office/drawing/2014/main" id="{3A5E7733-CEF4-B0B9-C13F-CE6A854A02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7501" y="1217312"/>
            <a:ext cx="6788997" cy="5435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60384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Analyse Critique - Corrélation Paradoxale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27432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381642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Plus </a:t>
            </a:r>
            <a:r>
              <a:rPr dirty="0" err="1"/>
              <a:t>d'aménagements</a:t>
            </a:r>
            <a:r>
              <a:rPr dirty="0"/>
              <a:t> → plus </a:t>
            </a:r>
            <a:r>
              <a:rPr dirty="0" err="1"/>
              <a:t>d'accidents</a:t>
            </a:r>
            <a:r>
              <a:rPr dirty="0"/>
              <a:t> (r = 0.60)</a:t>
            </a: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endParaRPr dirty="0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Est-</a:t>
            </a:r>
            <a:r>
              <a:rPr dirty="0" err="1"/>
              <a:t>ce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les </a:t>
            </a:r>
            <a:r>
              <a:rPr dirty="0" err="1"/>
              <a:t>aménagements</a:t>
            </a:r>
            <a:r>
              <a:rPr dirty="0"/>
              <a:t> </a:t>
            </a:r>
            <a:r>
              <a:rPr dirty="0" err="1"/>
              <a:t>sont</a:t>
            </a:r>
            <a:r>
              <a:rPr dirty="0"/>
              <a:t> </a:t>
            </a:r>
            <a:r>
              <a:rPr dirty="0" err="1"/>
              <a:t>dangereux</a:t>
            </a:r>
            <a:r>
              <a:rPr dirty="0"/>
              <a:t> ? NON !</a:t>
            </a:r>
            <a:endParaRPr dirty="0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endParaRPr dirty="0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</a:t>
            </a:r>
            <a:r>
              <a:rPr dirty="0" err="1"/>
              <a:t>Biais</a:t>
            </a:r>
            <a:r>
              <a:rPr dirty="0"/>
              <a:t> de confusion :</a:t>
            </a:r>
            <a:endParaRPr dirty="0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</a:t>
            </a:r>
            <a:r>
              <a:rPr lang="fr-FR" dirty="0"/>
              <a:t>- </a:t>
            </a:r>
            <a:r>
              <a:rPr dirty="0"/>
              <a:t>Plus </a:t>
            </a:r>
            <a:r>
              <a:rPr dirty="0" err="1"/>
              <a:t>d'aménagements</a:t>
            </a:r>
            <a:r>
              <a:rPr dirty="0"/>
              <a:t> → plus de </a:t>
            </a:r>
            <a:r>
              <a:rPr dirty="0" err="1"/>
              <a:t>cyclistes</a:t>
            </a:r>
            <a:endParaRPr dirty="0" err="1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</a:t>
            </a:r>
            <a:r>
              <a:rPr lang="fr-FR" dirty="0"/>
              <a:t>- </a:t>
            </a:r>
            <a:r>
              <a:rPr dirty="0"/>
              <a:t>Plus de </a:t>
            </a:r>
            <a:r>
              <a:rPr dirty="0" err="1"/>
              <a:t>cyclistes</a:t>
            </a:r>
            <a:r>
              <a:rPr dirty="0"/>
              <a:t> → plus </a:t>
            </a:r>
            <a:r>
              <a:rPr dirty="0" err="1"/>
              <a:t>d'accidents</a:t>
            </a:r>
            <a:r>
              <a:rPr dirty="0"/>
              <a:t> (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absolu</a:t>
            </a:r>
            <a:r>
              <a:rPr dirty="0"/>
              <a:t>)</a:t>
            </a:r>
            <a:endParaRPr dirty="0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endParaRPr dirty="0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Le </a:t>
            </a:r>
            <a:r>
              <a:rPr dirty="0" err="1"/>
              <a:t>modèle</a:t>
            </a:r>
            <a:r>
              <a:rPr dirty="0"/>
              <a:t> </a:t>
            </a:r>
            <a:r>
              <a:rPr dirty="0" err="1"/>
              <a:t>apprend</a:t>
            </a:r>
            <a:r>
              <a:rPr dirty="0"/>
              <a:t> </a:t>
            </a:r>
            <a:r>
              <a:rPr dirty="0" err="1"/>
              <a:t>cette</a:t>
            </a:r>
            <a:r>
              <a:rPr dirty="0"/>
              <a:t> </a:t>
            </a:r>
            <a:r>
              <a:rPr dirty="0" err="1"/>
              <a:t>corrélation</a:t>
            </a:r>
            <a:r>
              <a:rPr dirty="0"/>
              <a:t>,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elle</a:t>
            </a:r>
            <a:r>
              <a:rPr dirty="0"/>
              <a:t> </a:t>
            </a:r>
            <a:r>
              <a:rPr dirty="0" err="1"/>
              <a:t>n'est</a:t>
            </a:r>
            <a:r>
              <a:rPr dirty="0"/>
              <a:t> pas </a:t>
            </a:r>
            <a:r>
              <a:rPr dirty="0" err="1"/>
              <a:t>causale</a:t>
            </a:r>
            <a:endParaRPr dirty="0" err="1"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Analyse Critique - Effet Paris et MAPE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27432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424731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</a:t>
            </a:r>
            <a:r>
              <a:rPr dirty="0" err="1"/>
              <a:t>Effet</a:t>
            </a:r>
            <a:r>
              <a:rPr dirty="0"/>
              <a:t> Paris :</a:t>
            </a: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</a:t>
            </a:r>
            <a:r>
              <a:rPr lang="fr-FR" dirty="0"/>
              <a:t>- </a:t>
            </a:r>
            <a:r>
              <a:rPr dirty="0"/>
              <a:t>20 arrondissements = 61% des accidents de </a:t>
            </a:r>
            <a:r>
              <a:rPr dirty="0" err="1"/>
              <a:t>l'IDF</a:t>
            </a:r>
            <a:endParaRPr dirty="0" err="1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</a:t>
            </a:r>
            <a:r>
              <a:rPr lang="fr-FR" dirty="0"/>
              <a:t>- </a:t>
            </a:r>
            <a:r>
              <a:rPr dirty="0"/>
              <a:t>13 853 accidents sur 22 609</a:t>
            </a:r>
            <a:endParaRPr dirty="0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</a:t>
            </a:r>
            <a:r>
              <a:rPr lang="fr-FR" dirty="0"/>
              <a:t>- </a:t>
            </a:r>
            <a:r>
              <a:rPr dirty="0"/>
              <a:t>Le </a:t>
            </a:r>
            <a:r>
              <a:rPr dirty="0" err="1"/>
              <a:t>modèle</a:t>
            </a:r>
            <a:r>
              <a:rPr dirty="0"/>
              <a:t> </a:t>
            </a:r>
            <a:r>
              <a:rPr dirty="0" err="1"/>
              <a:t>apprend</a:t>
            </a:r>
            <a:r>
              <a:rPr dirty="0"/>
              <a:t> surtout à identifier Paris</a:t>
            </a:r>
            <a:endParaRPr dirty="0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endParaRPr dirty="0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MAPE </a:t>
            </a:r>
            <a:r>
              <a:rPr dirty="0" err="1"/>
              <a:t>élevé</a:t>
            </a:r>
            <a:r>
              <a:rPr dirty="0"/>
              <a:t> :</a:t>
            </a:r>
            <a:endParaRPr dirty="0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</a:t>
            </a:r>
            <a:r>
              <a:rPr lang="fr-FR" dirty="0"/>
              <a:t>- </a:t>
            </a:r>
            <a:r>
              <a:rPr dirty="0"/>
              <a:t>R² = 89% </a:t>
            </a:r>
            <a:r>
              <a:rPr dirty="0" err="1"/>
              <a:t>mais</a:t>
            </a:r>
            <a:r>
              <a:rPr dirty="0"/>
              <a:t> MAPE = 83%</a:t>
            </a:r>
            <a:endParaRPr dirty="0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</a:t>
            </a:r>
            <a:r>
              <a:rPr lang="fr-FR" dirty="0"/>
              <a:t>- </a:t>
            </a:r>
            <a:r>
              <a:rPr dirty="0" err="1"/>
              <a:t>Prédictions</a:t>
            </a:r>
            <a:r>
              <a:rPr dirty="0"/>
              <a:t> </a:t>
            </a:r>
            <a:r>
              <a:rPr dirty="0" err="1"/>
              <a:t>imprécises</a:t>
            </a:r>
            <a:r>
              <a:rPr dirty="0"/>
              <a:t> pour les petites communes</a:t>
            </a:r>
            <a:endParaRPr dirty="0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endParaRPr dirty="0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Distribution </a:t>
            </a:r>
            <a:r>
              <a:rPr dirty="0" err="1"/>
              <a:t>asymétrique</a:t>
            </a:r>
            <a:r>
              <a:rPr dirty="0"/>
              <a:t> : 33.6% des communes sans accident</a:t>
            </a:r>
            <a:endParaRPr dirty="0"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Prédictions vs Valeurs Réelles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27432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predictions_vs_r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1788" y="1135476"/>
            <a:ext cx="6279844" cy="534035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42216B-5A67-4E33-DE84-D24CFD6CF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CF5382-1B43-627A-9590-D3286B4E1BA4}"/>
              </a:ext>
            </a:extLst>
          </p:cNvPr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Prédictions vs Valeurs Réelles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4F0654-EA5B-B4CC-6A4D-25365FF2B53F}"/>
              </a:ext>
            </a:extLst>
          </p:cNvPr>
          <p:cNvSpPr/>
          <p:nvPr/>
        </p:nvSpPr>
        <p:spPr>
          <a:xfrm>
            <a:off x="457200" y="1005840"/>
            <a:ext cx="8229600" cy="27432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predictions_vs_reel_zoom.png">
            <a:extLst>
              <a:ext uri="{FF2B5EF4-FFF2-40B4-BE49-F238E27FC236}">
                <a16:creationId xmlns:a16="http://schemas.microsoft.com/office/drawing/2014/main" id="{92BB05BD-DFF5-22F9-FE84-7304E1A272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8700" y="1149945"/>
            <a:ext cx="6229205" cy="5325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9403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Solution - Taux de Risque Normalisés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27432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424731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</a:t>
            </a:r>
            <a:r>
              <a:rPr dirty="0" err="1"/>
              <a:t>Intégration</a:t>
            </a:r>
            <a:r>
              <a:rPr dirty="0"/>
              <a:t> des données de population INSEE</a:t>
            </a: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endParaRPr lang="fr-FR" dirty="0"/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Deux </a:t>
            </a:r>
            <a:r>
              <a:rPr dirty="0" err="1"/>
              <a:t>nouvelles</a:t>
            </a:r>
            <a:r>
              <a:rPr dirty="0"/>
              <a:t> </a:t>
            </a:r>
            <a:r>
              <a:rPr dirty="0" err="1"/>
              <a:t>métriques</a:t>
            </a:r>
            <a:r>
              <a:rPr dirty="0"/>
              <a:t> :</a:t>
            </a:r>
            <a:endParaRPr dirty="0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</a:t>
            </a:r>
            <a:r>
              <a:rPr dirty="0" err="1"/>
              <a:t>Taux</a:t>
            </a:r>
            <a:r>
              <a:rPr dirty="0"/>
              <a:t> par km = Accidents / Longueur </a:t>
            </a:r>
            <a:r>
              <a:rPr dirty="0" err="1"/>
              <a:t>aménagements</a:t>
            </a:r>
            <a:r>
              <a:rPr dirty="0"/>
              <a:t> (km)</a:t>
            </a:r>
            <a:endParaRPr dirty="0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   → Compare </a:t>
            </a:r>
            <a:r>
              <a:rPr dirty="0" err="1"/>
              <a:t>indépendamment</a:t>
            </a:r>
            <a:r>
              <a:rPr dirty="0"/>
              <a:t> du </a:t>
            </a:r>
            <a:r>
              <a:rPr dirty="0" err="1"/>
              <a:t>niveau</a:t>
            </a:r>
            <a:r>
              <a:rPr dirty="0"/>
              <a:t> </a:t>
            </a:r>
            <a:r>
              <a:rPr dirty="0" err="1"/>
              <a:t>d'équipement</a:t>
            </a:r>
            <a:endParaRPr dirty="0" err="1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endParaRPr dirty="0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</a:t>
            </a:r>
            <a:r>
              <a:rPr dirty="0" err="1"/>
              <a:t>Taux</a:t>
            </a:r>
            <a:r>
              <a:rPr dirty="0"/>
              <a:t> pour 10k </a:t>
            </a:r>
            <a:r>
              <a:rPr dirty="0" err="1"/>
              <a:t>hab</a:t>
            </a:r>
            <a:r>
              <a:rPr dirty="0"/>
              <a:t> = (Accidents / Population) × 10 000</a:t>
            </a:r>
            <a:endParaRPr dirty="0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lang="fr-FR" dirty="0"/>
              <a:t>   </a:t>
            </a:r>
            <a:r>
              <a:rPr dirty="0"/>
              <a:t>→ </a:t>
            </a:r>
            <a:r>
              <a:rPr dirty="0" err="1"/>
              <a:t>Métrique</a:t>
            </a:r>
            <a:r>
              <a:rPr dirty="0"/>
              <a:t> </a:t>
            </a:r>
            <a:r>
              <a:rPr dirty="0" err="1"/>
              <a:t>classique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épidémiologie</a:t>
            </a:r>
            <a:endParaRPr dirty="0" err="1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endParaRPr lang="fr-FR" dirty="0"/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Objectif : </a:t>
            </a:r>
            <a:r>
              <a:rPr dirty="0" err="1"/>
              <a:t>éliminer</a:t>
            </a:r>
            <a:r>
              <a:rPr dirty="0"/>
              <a:t> </a:t>
            </a:r>
            <a:r>
              <a:rPr dirty="0" err="1"/>
              <a:t>l'effet</a:t>
            </a:r>
            <a:r>
              <a:rPr dirty="0"/>
              <a:t> de taille</a:t>
            </a:r>
            <a:endParaRPr dirty="0"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Taux de Risque - Résultats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27432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166199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Performances nettement inférieures mais plus </a:t>
            </a:r>
            <a:r>
              <a:rPr lang="fr-FR" dirty="0"/>
              <a:t>réalistes</a:t>
            </a:r>
            <a:endParaRPr lang="fr-FR" dirty="0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Le </a:t>
            </a:r>
            <a:r>
              <a:rPr dirty="0" err="1"/>
              <a:t>modèle</a:t>
            </a:r>
            <a:r>
              <a:rPr dirty="0"/>
              <a:t> ne </a:t>
            </a:r>
            <a:r>
              <a:rPr dirty="0" err="1"/>
              <a:t>peut</a:t>
            </a:r>
            <a:r>
              <a:rPr dirty="0"/>
              <a:t> plus exploiter </a:t>
            </a:r>
            <a:r>
              <a:rPr dirty="0" err="1"/>
              <a:t>l'effet</a:t>
            </a:r>
            <a:r>
              <a:rPr dirty="0"/>
              <a:t> de taille</a:t>
            </a:r>
            <a:endParaRPr dirty="0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Paris </a:t>
            </a:r>
            <a:r>
              <a:rPr dirty="0" err="1"/>
              <a:t>n'a</a:t>
            </a:r>
            <a:r>
              <a:rPr dirty="0"/>
              <a:t> plus un </a:t>
            </a:r>
            <a:r>
              <a:rPr dirty="0" err="1"/>
              <a:t>poids</a:t>
            </a:r>
            <a:r>
              <a:rPr dirty="0"/>
              <a:t> </a:t>
            </a:r>
            <a:r>
              <a:rPr dirty="0" err="1"/>
              <a:t>disproportionné</a:t>
            </a:r>
            <a:endParaRPr dirty="0" err="1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</a:t>
            </a:r>
            <a:r>
              <a:rPr dirty="0" err="1"/>
              <a:t>Reflète</a:t>
            </a:r>
            <a:r>
              <a:rPr dirty="0"/>
              <a:t> la </a:t>
            </a:r>
            <a:r>
              <a:rPr dirty="0" err="1"/>
              <a:t>complexité</a:t>
            </a:r>
            <a:r>
              <a:rPr dirty="0"/>
              <a:t> </a:t>
            </a:r>
            <a:r>
              <a:rPr lang="fr-FR" dirty="0"/>
              <a:t>du problème </a:t>
            </a:r>
            <a:endParaRPr>
              <a:ea typeface="Calibri"/>
              <a:cs typeface="Calibri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657600"/>
          <a:ext cx="8229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Métrique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Meilleur modèle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R²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MAPE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t>Taux par km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t>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t>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t>70%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t>Taux par habitant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t>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t>34%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Synthèse Comparative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27432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t>• Paradoxe : meilleure performance ≠ meilleur modèle</a:t>
            </a: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t>• Un R² élevé ne garantit pas la validité</a:t>
            </a: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t>• L'analyse critique est indispensable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65760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Analyse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Modèle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Performance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Validité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t>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t>Rég. Logistique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t>AUC 96%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t>✓ Élevée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t>Régression brute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t>Gradient Boosting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t>R² 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t>⚠ Limitée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t>Taux par km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t>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t>R² 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t>✓ Élevée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t>Taux par habitant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t>R² 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646464"/>
                          </a:solidFill>
                        </a:defRPr>
                      </a:pPr>
                      <a:r>
                        <a:t>✓ Élevée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Limites de l'Étude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27432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424731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Sous-</a:t>
            </a:r>
            <a:r>
              <a:rPr dirty="0" err="1"/>
              <a:t>déclaration</a:t>
            </a:r>
            <a:r>
              <a:rPr dirty="0"/>
              <a:t> des accidents (accidents </a:t>
            </a:r>
            <a:r>
              <a:rPr dirty="0" err="1"/>
              <a:t>mineurs</a:t>
            </a:r>
            <a:r>
              <a:rPr dirty="0"/>
              <a:t>)</a:t>
            </a: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endParaRPr dirty="0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Couverture </a:t>
            </a:r>
            <a:r>
              <a:rPr dirty="0" err="1"/>
              <a:t>limitée</a:t>
            </a:r>
            <a:r>
              <a:rPr dirty="0"/>
              <a:t> : 69 </a:t>
            </a:r>
            <a:r>
              <a:rPr dirty="0" err="1"/>
              <a:t>compteurs</a:t>
            </a:r>
            <a:r>
              <a:rPr dirty="0"/>
              <a:t> pour toute </a:t>
            </a:r>
            <a:r>
              <a:rPr dirty="0" err="1"/>
              <a:t>l'IDF</a:t>
            </a:r>
            <a:endParaRPr dirty="0" err="1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endParaRPr dirty="0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Variables </a:t>
            </a:r>
            <a:r>
              <a:rPr dirty="0" err="1"/>
              <a:t>manquantes</a:t>
            </a:r>
            <a:r>
              <a:rPr dirty="0"/>
              <a:t> :</a:t>
            </a:r>
            <a:endParaRPr dirty="0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</a:t>
            </a:r>
            <a:r>
              <a:rPr lang="fr-FR" dirty="0"/>
              <a:t>- </a:t>
            </a:r>
            <a:r>
              <a:rPr dirty="0" err="1"/>
              <a:t>Trafic</a:t>
            </a:r>
            <a:r>
              <a:rPr dirty="0"/>
              <a:t> automobile</a:t>
            </a:r>
            <a:endParaRPr dirty="0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</a:t>
            </a:r>
            <a:r>
              <a:rPr lang="fr-FR" dirty="0"/>
              <a:t>- </a:t>
            </a:r>
            <a:r>
              <a:rPr dirty="0" err="1"/>
              <a:t>Caractéristiques</a:t>
            </a:r>
            <a:r>
              <a:rPr dirty="0"/>
              <a:t> </a:t>
            </a:r>
            <a:r>
              <a:rPr dirty="0" err="1"/>
              <a:t>urbanistiques</a:t>
            </a:r>
            <a:endParaRPr dirty="0" err="1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</a:t>
            </a:r>
            <a:r>
              <a:rPr lang="fr-FR" dirty="0"/>
              <a:t>- </a:t>
            </a:r>
            <a:r>
              <a:rPr dirty="0" err="1"/>
              <a:t>Météo</a:t>
            </a:r>
            <a:r>
              <a:rPr dirty="0"/>
              <a:t> </a:t>
            </a:r>
            <a:r>
              <a:rPr dirty="0" err="1"/>
              <a:t>détaillée</a:t>
            </a:r>
            <a:endParaRPr dirty="0" err="1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endParaRPr dirty="0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33.6% de communes sans accident → </a:t>
            </a:r>
            <a:r>
              <a:rPr dirty="0" err="1"/>
              <a:t>modèles</a:t>
            </a:r>
            <a:r>
              <a:rPr dirty="0"/>
              <a:t> Zero-Inflated ?</a:t>
            </a:r>
            <a:endParaRPr dirty="0"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27432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424731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✓ Classification efficace pour identifier les communes prioritaires</a:t>
            </a:r>
            <a:endParaRPr lang="fr-FR" dirty="0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endParaRPr dirty="0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⚠ </a:t>
            </a:r>
            <a:r>
              <a:rPr dirty="0" err="1"/>
              <a:t>Régression</a:t>
            </a:r>
            <a:r>
              <a:rPr dirty="0"/>
              <a:t> brute </a:t>
            </a:r>
            <a:r>
              <a:rPr dirty="0" err="1"/>
              <a:t>biaisée</a:t>
            </a:r>
            <a:r>
              <a:rPr dirty="0"/>
              <a:t> par </a:t>
            </a:r>
            <a:r>
              <a:rPr dirty="0" err="1"/>
              <a:t>l'effet</a:t>
            </a:r>
            <a:r>
              <a:rPr dirty="0"/>
              <a:t> de taille</a:t>
            </a:r>
            <a:endParaRPr dirty="0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endParaRPr dirty="0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✓ </a:t>
            </a:r>
            <a:r>
              <a:rPr dirty="0" err="1"/>
              <a:t>Taux</a:t>
            </a:r>
            <a:r>
              <a:rPr dirty="0"/>
              <a:t> </a:t>
            </a:r>
            <a:r>
              <a:rPr dirty="0" err="1"/>
              <a:t>normalisés</a:t>
            </a:r>
            <a:r>
              <a:rPr dirty="0"/>
              <a:t> : </a:t>
            </a:r>
            <a:r>
              <a:rPr dirty="0" err="1"/>
              <a:t>approche</a:t>
            </a:r>
            <a:r>
              <a:rPr dirty="0"/>
              <a:t> </a:t>
            </a:r>
            <a:r>
              <a:rPr lang="fr-FR" dirty="0"/>
              <a:t>plus réaliste </a:t>
            </a:r>
            <a:endParaRPr dirty="0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endParaRPr dirty="0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</a:t>
            </a:r>
            <a:r>
              <a:rPr lang="fr-FR" dirty="0"/>
              <a:t>Enseignement</a:t>
            </a:r>
            <a:r>
              <a:rPr dirty="0"/>
              <a:t> principal :</a:t>
            </a:r>
            <a:endParaRPr dirty="0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Performance ≠ </a:t>
            </a:r>
            <a:r>
              <a:rPr dirty="0" err="1"/>
              <a:t>Validité</a:t>
            </a:r>
            <a:endParaRPr dirty="0" err="1">
              <a:ea typeface="Calibri"/>
              <a:cs typeface="Calibri"/>
            </a:endParaRPr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endParaRPr lang="fr-FR" dirty="0"/>
          </a:p>
          <a:p>
            <a:pPr>
              <a:spcAft>
                <a:spcPts val="1200"/>
              </a:spcAft>
              <a:defRPr sz="1800">
                <a:solidFill>
                  <a:srgbClr val="646464"/>
                </a:solidFill>
              </a:defRPr>
            </a:pPr>
            <a:r>
              <a:rPr dirty="0"/>
              <a:t>• </a:t>
            </a:r>
            <a:r>
              <a:rPr dirty="0" err="1"/>
              <a:t>L'analyse</a:t>
            </a:r>
            <a:r>
              <a:rPr dirty="0"/>
              <a:t> critique des données est </a:t>
            </a:r>
            <a:r>
              <a:rPr dirty="0" err="1"/>
              <a:t>essentielle</a:t>
            </a:r>
            <a:endParaRPr dirty="0" err="1"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03366"/>
                </a:solidFill>
              </a:defRPr>
            </a:pPr>
            <a:r>
              <a:t>Merci pour votre attention</a:t>
            </a:r>
          </a:p>
          <a:p>
            <a:pPr algn="ctr">
              <a:defRPr sz="2400">
                <a:solidFill>
                  <a:srgbClr val="646464"/>
                </a:solidFill>
              </a:defRPr>
            </a:pPr>
            <a:r>
              <a:t>Questions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Affichage à l'écran (4:3)</PresentationFormat>
  <Paragraphs>0</Paragraphs>
  <Slides>22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22</vt:i4>
      </vt:variant>
    </vt:vector>
  </HeadingPairs>
  <TitlesOfParts>
    <vt:vector size="23" baseType="lpstr"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cp:lastModifiedBy>Steve Canny</cp:lastModifiedBy>
  <cp:revision>132</cp:revision>
  <dcterms:created xsi:type="dcterms:W3CDTF">2013-01-27T09:14:16Z</dcterms:created>
  <dcterms:modified xsi:type="dcterms:W3CDTF">2026-01-14T20:13:10Z</dcterms:modified>
  <cp:category/>
</cp:coreProperties>
</file>